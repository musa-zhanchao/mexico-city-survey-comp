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11"/>
    <p:restoredTop sz="94694"/>
  </p:normalViewPr>
  <p:slideViewPr>
    <p:cSldViewPr snapToGrid="0">
      <p:cViewPr varScale="1">
        <p:scale>
          <a:sx n="120" d="100"/>
          <a:sy n="120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49E3F-ECDA-E249-AFAB-866AB257B76A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27478-09EF-0B4C-9DCA-90879BE15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70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27478-09EF-0B4C-9DCA-90879BE152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01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27478-09EF-0B4C-9DCA-90879BE152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01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27478-09EF-0B4C-9DCA-90879BE152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04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7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7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07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2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49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6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0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0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6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58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6" name="Picture 15" descr="3D rendering of a city in white">
            <a:extLst>
              <a:ext uri="{FF2B5EF4-FFF2-40B4-BE49-F238E27FC236}">
                <a16:creationId xmlns:a16="http://schemas.microsoft.com/office/drawing/2014/main" id="{8A99970A-DC68-AA33-CE62-D77B2D9638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08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67DF3-0A93-45E1-0B84-E3BC4B46A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255830"/>
            <a:ext cx="8138160" cy="1061981"/>
          </a:xfrm>
        </p:spPr>
        <p:txBody>
          <a:bodyPr anchor="t">
            <a:normAutofit/>
          </a:bodyPr>
          <a:lstStyle/>
          <a:p>
            <a:pPr algn="l"/>
            <a:r>
              <a:rPr lang="en-US" sz="4100"/>
              <a:t>Mexico City Mode comparison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57916-1EB9-FE73-CC0F-150950C6C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4800" y="5532013"/>
            <a:ext cx="4267179" cy="1325977"/>
          </a:xfrm>
        </p:spPr>
        <p:txBody>
          <a:bodyPr anchor="t">
            <a:normAutofit fontScale="92500" lnSpcReduction="10000"/>
          </a:bodyPr>
          <a:lstStyle/>
          <a:p>
            <a:pPr algn="r"/>
            <a:r>
              <a:rPr lang="en-US" sz="2000" dirty="0"/>
              <a:t>Household Travel Survey Analysis </a:t>
            </a:r>
          </a:p>
          <a:p>
            <a:pPr algn="r"/>
            <a:r>
              <a:rPr lang="en-US" sz="2000" dirty="0"/>
              <a:t>Zhanchao Yang</a:t>
            </a:r>
          </a:p>
          <a:p>
            <a:pPr algn="r"/>
            <a:r>
              <a:rPr lang="en-US" sz="2000" dirty="0"/>
              <a:t>2007-2017</a:t>
            </a:r>
          </a:p>
        </p:txBody>
      </p:sp>
    </p:spTree>
    <p:extLst>
      <p:ext uri="{BB962C8B-B14F-4D97-AF65-F5344CB8AC3E}">
        <p14:creationId xmlns:p14="http://schemas.microsoft.com/office/powerpoint/2010/main" val="494566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F9404-AC2B-5901-76B8-BECE3EF4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mode trip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8E0F7-2745-9B42-8B80-EB149671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77.59% (2007) vs 86.18% (2017)</a:t>
            </a:r>
          </a:p>
          <a:p>
            <a:endParaRPr lang="en-US" sz="4000" b="1" dirty="0"/>
          </a:p>
          <a:p>
            <a:endParaRPr lang="en-US" sz="40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In 2017, walking was counted as a separate category. Walking + other modes is counted as “other” modes.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walking + driving = driving </a:t>
            </a:r>
          </a:p>
        </p:txBody>
      </p:sp>
    </p:spTree>
    <p:extLst>
      <p:ext uri="{BB962C8B-B14F-4D97-AF65-F5344CB8AC3E}">
        <p14:creationId xmlns:p14="http://schemas.microsoft.com/office/powerpoint/2010/main" val="32149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94A8D-02FD-1FC9-EC4F-97A1A6FE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2007 vs 2017 single mode trip distribution</a:t>
            </a:r>
          </a:p>
        </p:txBody>
      </p:sp>
      <p:pic>
        <p:nvPicPr>
          <p:cNvPr id="8" name="Picture 7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A78F2C82-413E-EAE8-64E8-BB9B39BBA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021" y="1778654"/>
            <a:ext cx="5297213" cy="3840480"/>
          </a:xfrm>
          <a:prstGeom prst="rect">
            <a:avLst/>
          </a:prstGeom>
        </p:spPr>
      </p:pic>
      <p:pic>
        <p:nvPicPr>
          <p:cNvPr id="5" name="Content Placeholder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8C698C9-A0B0-DF53-3128-39C491660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2940" y="1778654"/>
            <a:ext cx="5297213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63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B2A3-ECA6-6DC9-0701-50C81921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847023"/>
          </a:xfrm>
        </p:spPr>
        <p:txBody>
          <a:bodyPr/>
          <a:lstStyle/>
          <a:p>
            <a:r>
              <a:rPr lang="en-US" dirty="0"/>
              <a:t>Single-trip Metro vs multimodal Metro (2007)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597EA-3A14-7CC9-230B-2C41D252C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95663"/>
            <a:ext cx="10653579" cy="4593828"/>
          </a:xfrm>
        </p:spPr>
        <p:txBody>
          <a:bodyPr/>
          <a:lstStyle/>
          <a:p>
            <a:r>
              <a:rPr lang="en-US" sz="4000" b="1" dirty="0"/>
              <a:t>6.13% vs 19.67%</a:t>
            </a:r>
          </a:p>
        </p:txBody>
      </p:sp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6AEFB5E3-9EA3-ADFD-795C-7A4B8CF93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237" y="2334928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52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FC1B422-B8D7-7478-E62C-65A4A081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711F-6312-2D5F-266D-D2B6E1C1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847023"/>
          </a:xfrm>
        </p:spPr>
        <p:txBody>
          <a:bodyPr/>
          <a:lstStyle/>
          <a:p>
            <a:r>
              <a:rPr lang="en-US" dirty="0"/>
              <a:t>Single-trip Metro vs multimodal Metro (2017)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984C-486C-9616-2FEF-019DEB740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95663"/>
            <a:ext cx="10653579" cy="1020278"/>
          </a:xfrm>
        </p:spPr>
        <p:txBody>
          <a:bodyPr/>
          <a:lstStyle/>
          <a:p>
            <a:r>
              <a:rPr lang="en-US" sz="4000" b="1" dirty="0"/>
              <a:t>2.46% vs 10.64%</a:t>
            </a:r>
          </a:p>
        </p:txBody>
      </p:sp>
      <p:pic>
        <p:nvPicPr>
          <p:cNvPr id="7" name="Picture 6" descr="A graph with numbers and a red line&#10;&#10;AI-generated content may be incorrect.">
            <a:extLst>
              <a:ext uri="{FF2B5EF4-FFF2-40B4-BE49-F238E27FC236}">
                <a16:creationId xmlns:a16="http://schemas.microsoft.com/office/drawing/2014/main" id="{CFDE38E4-814C-A299-76CC-48E1824B9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415941"/>
            <a:ext cx="7772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56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11B60-4E50-A60D-382C-B89AA760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dirty="0"/>
              <a:t>Metro multimodal trip comparison</a:t>
            </a:r>
          </a:p>
        </p:txBody>
      </p:sp>
      <p:pic>
        <p:nvPicPr>
          <p:cNvPr id="7" name="Picture 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895C1705-E4A1-38C5-A389-CC5D1A933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40" y="2362952"/>
            <a:ext cx="5567617" cy="2783807"/>
          </a:xfrm>
          <a:prstGeom prst="rect">
            <a:avLst/>
          </a:prstGeom>
        </p:spPr>
      </p:pic>
      <p:pic>
        <p:nvPicPr>
          <p:cNvPr id="9" name="Picture 8" descr="A graph with numbers and a red line&#10;&#10;AI-generated content may be incorrect.">
            <a:extLst>
              <a:ext uri="{FF2B5EF4-FFF2-40B4-BE49-F238E27FC236}">
                <a16:creationId xmlns:a16="http://schemas.microsoft.com/office/drawing/2014/main" id="{5E940B10-05DA-8D32-1DB6-12C7B1B82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024" y="2362952"/>
            <a:ext cx="5625723" cy="281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1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AFD4CD-6A66-18DB-C1B2-4A05B057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BRT (0.5% vs. 1.1%)</a:t>
            </a:r>
          </a:p>
        </p:txBody>
      </p:sp>
      <p:pic>
        <p:nvPicPr>
          <p:cNvPr id="11" name="Picture 10" descr="A graph with a bar and text&#10;&#10;AI-generated content may be incorrect.">
            <a:extLst>
              <a:ext uri="{FF2B5EF4-FFF2-40B4-BE49-F238E27FC236}">
                <a16:creationId xmlns:a16="http://schemas.microsoft.com/office/drawing/2014/main" id="{3B1EA71B-EF60-F60E-D860-D289E4556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40" y="2362952"/>
            <a:ext cx="5567617" cy="2018261"/>
          </a:xfrm>
          <a:prstGeom prst="rect">
            <a:avLst/>
          </a:prstGeom>
        </p:spPr>
      </p:pic>
      <p:pic>
        <p:nvPicPr>
          <p:cNvPr id="14" name="Picture 13" descr="A graph with a bar&#10;&#10;AI-generated content may be incorrect.">
            <a:extLst>
              <a:ext uri="{FF2B5EF4-FFF2-40B4-BE49-F238E27FC236}">
                <a16:creationId xmlns:a16="http://schemas.microsoft.com/office/drawing/2014/main" id="{91D7FC37-D224-3B8D-A540-76CB45AC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024" y="2362952"/>
            <a:ext cx="5625723" cy="20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6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750A9-D2DB-2C48-E4AB-6AF9D09E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Bus (2.2%vs 1.95%)</a:t>
            </a:r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8C16DB0-A1A1-E831-3BBC-AA25F7647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40" y="2362952"/>
            <a:ext cx="5567617" cy="2018261"/>
          </a:xfrm>
          <a:prstGeom prst="rect">
            <a:avLst/>
          </a:prstGeom>
        </p:spPr>
      </p:pic>
      <p:pic>
        <p:nvPicPr>
          <p:cNvPr id="7" name="Picture 6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BB58F2B2-D64B-0DED-A2D8-C65A8C9D9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024" y="2362952"/>
            <a:ext cx="5625723" cy="187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96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DE9AD-A6E1-FE5F-6473-13163A186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Bus only, High Capacity only, and bus +High Capacity</a:t>
            </a:r>
          </a:p>
        </p:txBody>
      </p:sp>
      <p:pic>
        <p:nvPicPr>
          <p:cNvPr id="7" name="Picture 6" descr="A graph with multiple colored squares&#10;&#10;AI-generated content may be incorrect.">
            <a:extLst>
              <a:ext uri="{FF2B5EF4-FFF2-40B4-BE49-F238E27FC236}">
                <a16:creationId xmlns:a16="http://schemas.microsoft.com/office/drawing/2014/main" id="{11E581CC-045F-7994-01BA-67BDF7DD8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849" y="2575722"/>
            <a:ext cx="5559552" cy="2015337"/>
          </a:xfrm>
          <a:prstGeom prst="rect">
            <a:avLst/>
          </a:prstGeom>
        </p:spPr>
      </p:pic>
      <p:pic>
        <p:nvPicPr>
          <p:cNvPr id="5" name="Content Placeholder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521E9624-547F-882E-B3E7-BE66DADDB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3149" y="2575722"/>
            <a:ext cx="5559552" cy="201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90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689C-7E2A-F724-62AF-5333111E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trip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7A4EC-CDB3-5573-EDDD-1EEA67930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Single-mode trips</a:t>
            </a:r>
          </a:p>
          <a:p>
            <a:r>
              <a:rPr lang="en-US" dirty="0"/>
              <a:t>76.68% (2007) vs 70.47% (2017, excluding walking) </a:t>
            </a:r>
          </a:p>
          <a:p>
            <a:r>
              <a:rPr lang="en-US" dirty="0"/>
              <a:t>76.68% (2007) vs 79.25% (2017, including walking)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680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AB78B-86E9-A829-F86D-BB51CE7A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/>
              <a:t>2007 vs 2017 single-mode weighted trip distribution</a:t>
            </a: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E0F09BB-FC5C-1245-50F2-26565953E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81" y="2362952"/>
            <a:ext cx="5297213" cy="3840480"/>
          </a:xfrm>
          <a:prstGeom prst="rect">
            <a:avLst/>
          </a:prstGeom>
        </p:spPr>
      </p:pic>
      <p:pic>
        <p:nvPicPr>
          <p:cNvPr id="5" name="Content Placeholder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3B9FD19F-74F8-3A6B-F4C2-F477811CD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6128" y="2362952"/>
            <a:ext cx="5297213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59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832F-AB79-BA40-7E7D-F94F2336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Single-trip Metro vs multimodal Metro (2007)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975C0-EC62-9FF0-2DE0-09FFDC479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5.94% vs 19.66%</a:t>
            </a:r>
          </a:p>
        </p:txBody>
      </p:sp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9B3BB3B3-059A-57A2-BC8E-4A07687AA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53452"/>
            <a:ext cx="7772400" cy="445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3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10DFA-49C9-A8AF-890B-7AA64999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8DBA-24F3-20A6-B0FC-D3A29D142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Single-trip Metro vs multimodal Metro (2017)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CDFC-3B4F-E457-8DC5-EFAFBC6B8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3.44% vs 22.71%</a:t>
            </a:r>
          </a:p>
        </p:txBody>
      </p:sp>
      <p:pic>
        <p:nvPicPr>
          <p:cNvPr id="6" name="Picture 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B7D8B06D-D99E-2AE1-8E3D-B769BC3F6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97831"/>
            <a:ext cx="7772400" cy="445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37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99E35-5CDF-0A53-4655-5CB8538A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Metro multimodal trip comparison (weighted)</a:t>
            </a:r>
          </a:p>
        </p:txBody>
      </p:sp>
      <p:pic>
        <p:nvPicPr>
          <p:cNvPr id="5" name="Picture 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67DFD3D9-0DD9-9D71-2198-7F14F712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550" y="1991969"/>
            <a:ext cx="5559552" cy="3182843"/>
          </a:xfrm>
          <a:prstGeom prst="rect">
            <a:avLst/>
          </a:prstGeom>
        </p:spPr>
      </p:pic>
      <p:pic>
        <p:nvPicPr>
          <p:cNvPr id="4" name="Picture 3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80970368-4968-C7A1-5AEC-3293B07C8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99" y="1991969"/>
            <a:ext cx="5559552" cy="318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217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65CE5-815E-92C2-5B81-38FFF83B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BRT</a:t>
            </a:r>
          </a:p>
        </p:txBody>
      </p:sp>
      <p:pic>
        <p:nvPicPr>
          <p:cNvPr id="5" name="Content Placeholder 4" descr="A graph with a yellow bar&#10;&#10;AI-generated content may be incorrect.">
            <a:extLst>
              <a:ext uri="{FF2B5EF4-FFF2-40B4-BE49-F238E27FC236}">
                <a16:creationId xmlns:a16="http://schemas.microsoft.com/office/drawing/2014/main" id="{99DAF57A-2C68-2FBF-6661-166C24D46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7550" y="2691223"/>
            <a:ext cx="5559552" cy="2015337"/>
          </a:xfrm>
          <a:prstGeom prst="rect">
            <a:avLst/>
          </a:prstGeom>
        </p:spPr>
      </p:pic>
      <p:pic>
        <p:nvPicPr>
          <p:cNvPr id="7" name="Picture 6" descr="A graph with a bar&#10;&#10;AI-generated content may be incorrect.">
            <a:extLst>
              <a:ext uri="{FF2B5EF4-FFF2-40B4-BE49-F238E27FC236}">
                <a16:creationId xmlns:a16="http://schemas.microsoft.com/office/drawing/2014/main" id="{D95EB8C7-E105-B645-B19B-D7B2093AF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98" y="2691223"/>
            <a:ext cx="5559552" cy="201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88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5DD48-AE76-A403-FCA2-6DDCFDF87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BUS</a:t>
            </a:r>
          </a:p>
        </p:txBody>
      </p:sp>
      <p:pic>
        <p:nvPicPr>
          <p:cNvPr id="7" name="Picture 6" descr="A graph with a bar chart&#10;&#10;AI-generated content may be incorrect.">
            <a:extLst>
              <a:ext uri="{FF2B5EF4-FFF2-40B4-BE49-F238E27FC236}">
                <a16:creationId xmlns:a16="http://schemas.microsoft.com/office/drawing/2014/main" id="{ADAE6940-7202-D448-725A-C59B7FC18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0" y="2691225"/>
            <a:ext cx="5559552" cy="2015337"/>
          </a:xfrm>
          <a:prstGeom prst="rect">
            <a:avLst/>
          </a:prstGeom>
        </p:spPr>
      </p:pic>
      <p:pic>
        <p:nvPicPr>
          <p:cNvPr id="5" name="Picture 4" descr="A chart with a yellow and blue bar&#10;&#10;AI-generated content may be incorrect.">
            <a:extLst>
              <a:ext uri="{FF2B5EF4-FFF2-40B4-BE49-F238E27FC236}">
                <a16:creationId xmlns:a16="http://schemas.microsoft.com/office/drawing/2014/main" id="{C081614B-C544-AE4A-4329-6886DD43F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925" y="2906658"/>
            <a:ext cx="5559552" cy="15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2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782C6-FCF2-0D48-AF20-56228F885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Bus only, High Capacity only, and bus +High Capacity</a:t>
            </a:r>
          </a:p>
        </p:txBody>
      </p:sp>
      <p:pic>
        <p:nvPicPr>
          <p:cNvPr id="5" name="Picture 4" descr="A graph with a bar graph&#10;&#10;AI-generated content may be incorrect.">
            <a:extLst>
              <a:ext uri="{FF2B5EF4-FFF2-40B4-BE49-F238E27FC236}">
                <a16:creationId xmlns:a16="http://schemas.microsoft.com/office/drawing/2014/main" id="{316D7325-1420-7507-E74A-4786E4E96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40" y="2691225"/>
            <a:ext cx="5559552" cy="2015337"/>
          </a:xfrm>
          <a:prstGeom prst="rect">
            <a:avLst/>
          </a:prstGeom>
        </p:spPr>
      </p:pic>
      <p:pic>
        <p:nvPicPr>
          <p:cNvPr id="7" name="Picture 6" descr="A graph with a bar graph&#10;&#10;AI-generated content may be incorrect.">
            <a:extLst>
              <a:ext uri="{FF2B5EF4-FFF2-40B4-BE49-F238E27FC236}">
                <a16:creationId xmlns:a16="http://schemas.microsoft.com/office/drawing/2014/main" id="{E10B16C5-B6AC-C84E-99AC-011A6A4C3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925" y="2691225"/>
            <a:ext cx="5559552" cy="201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18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F185-667A-A638-B5F8-F4551AFF7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862871"/>
            <a:ext cx="10653578" cy="1132258"/>
          </a:xfrm>
        </p:spPr>
        <p:txBody>
          <a:bodyPr/>
          <a:lstStyle/>
          <a:p>
            <a:r>
              <a:rPr lang="en-US" altLang="zh-CN" dirty="0"/>
              <a:t>Mexico</a:t>
            </a:r>
            <a:r>
              <a:rPr lang="zh-CN" altLang="en-US" dirty="0"/>
              <a:t> </a:t>
            </a:r>
            <a:r>
              <a:rPr lang="en-US" altLang="zh-CN" dirty="0"/>
              <a:t>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5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A7334-5D95-72F7-4931-CB0C72C2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/>
              <a:t>2007 vs 2017 single-trip distribution</a:t>
            </a:r>
            <a:endParaRPr lang="en-US" sz="4000"/>
          </a:p>
        </p:txBody>
      </p:sp>
      <p:pic>
        <p:nvPicPr>
          <p:cNvPr id="5" name="Picture 4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4F9AF321-D05F-FCD5-62BC-9353F4492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86" y="1778654"/>
            <a:ext cx="5155006" cy="3840480"/>
          </a:xfrm>
          <a:prstGeom prst="rect">
            <a:avLst/>
          </a:prstGeom>
        </p:spPr>
      </p:pic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BD3E73DD-7CDF-E3F8-EDED-CD73C53E4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925" y="1778654"/>
            <a:ext cx="5155006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45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1CF67-A555-CA58-F8BE-A363A14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/>
              <a:t>Metro multimodal trip</a:t>
            </a:r>
            <a:endParaRPr lang="en-US" sz="4000"/>
          </a:p>
        </p:txBody>
      </p:sp>
      <p:pic>
        <p:nvPicPr>
          <p:cNvPr id="5" name="Picture 4" descr="A graph with colorful bars&#10;&#10;AI-generated content may be incorrect.">
            <a:extLst>
              <a:ext uri="{FF2B5EF4-FFF2-40B4-BE49-F238E27FC236}">
                <a16:creationId xmlns:a16="http://schemas.microsoft.com/office/drawing/2014/main" id="{C00AB702-4F24-57C8-C646-5C8698F67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868" y="2086012"/>
            <a:ext cx="5155006" cy="3840480"/>
          </a:xfrm>
          <a:prstGeom prst="rect">
            <a:avLst/>
          </a:prstGeom>
        </p:spPr>
      </p:pic>
      <p:pic>
        <p:nvPicPr>
          <p:cNvPr id="7" name="Picture 6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5088F7FD-03DB-5359-ACB4-C65128E56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68" y="2117910"/>
            <a:ext cx="5155006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6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D10A5-FEEB-40F7-F2C8-F25974EA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/>
              <a:t>BRT Multimodal trip</a:t>
            </a:r>
            <a:endParaRPr lang="en-US" sz="4000"/>
          </a:p>
        </p:txBody>
      </p:sp>
      <p:pic>
        <p:nvPicPr>
          <p:cNvPr id="7" name="Picture 6" descr="A graph with a yellow rectangle and blue squares&#10;&#10;AI-generated content may be incorrect.">
            <a:extLst>
              <a:ext uri="{FF2B5EF4-FFF2-40B4-BE49-F238E27FC236}">
                <a16:creationId xmlns:a16="http://schemas.microsoft.com/office/drawing/2014/main" id="{CEBF3803-C336-F4A2-A986-8239B00BA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6" y="1768022"/>
            <a:ext cx="5155006" cy="3840480"/>
          </a:xfrm>
          <a:prstGeom prst="rect">
            <a:avLst/>
          </a:prstGeom>
        </p:spPr>
      </p:pic>
      <p:pic>
        <p:nvPicPr>
          <p:cNvPr id="5" name="Picture 4" descr="A graph with a bar graph&#10;&#10;AI-generated content may be incorrect.">
            <a:extLst>
              <a:ext uri="{FF2B5EF4-FFF2-40B4-BE49-F238E27FC236}">
                <a16:creationId xmlns:a16="http://schemas.microsoft.com/office/drawing/2014/main" id="{5101517C-F787-3FF0-2067-BF183D869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880" y="1768022"/>
            <a:ext cx="5155006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80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4EFB2-B975-FA19-150C-70438564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/>
              <a:t>Bus trip</a:t>
            </a:r>
            <a:endParaRPr lang="en-US" sz="4000"/>
          </a:p>
        </p:txBody>
      </p:sp>
      <p:pic>
        <p:nvPicPr>
          <p:cNvPr id="5" name="Picture 4" descr="A graph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F5B172DE-A54B-9862-9B48-4D433C388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86" y="1778654"/>
            <a:ext cx="5155006" cy="3840480"/>
          </a:xfrm>
          <a:prstGeom prst="rect">
            <a:avLst/>
          </a:prstGeom>
        </p:spPr>
      </p:pic>
      <p:pic>
        <p:nvPicPr>
          <p:cNvPr id="7" name="Picture 6" descr="A graph of a bus&#10;&#10;AI-generated content may be incorrect.">
            <a:extLst>
              <a:ext uri="{FF2B5EF4-FFF2-40B4-BE49-F238E27FC236}">
                <a16:creationId xmlns:a16="http://schemas.microsoft.com/office/drawing/2014/main" id="{3C36CF7C-120E-2F40-292C-A4146273C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925" y="1843394"/>
            <a:ext cx="5559552" cy="37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48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9024E-4538-333B-6D7F-FA38561CC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000"/>
              <a:t>High Capacity vs bus</a:t>
            </a:r>
            <a:endParaRPr lang="en-US" sz="4000"/>
          </a:p>
        </p:txBody>
      </p:sp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D43D5536-23EF-42C1-2920-8AE4A2131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171" y="2117910"/>
            <a:ext cx="5559552" cy="3711000"/>
          </a:xfrm>
          <a:prstGeom prst="rect">
            <a:avLst/>
          </a:prstGeom>
        </p:spPr>
      </p:pic>
      <p:pic>
        <p:nvPicPr>
          <p:cNvPr id="5" name="Picture 4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BBD18066-1200-341F-7066-61082D823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40" y="2117910"/>
            <a:ext cx="5559552" cy="318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5670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Vanilla">
    <a:dk1>
      <a:sysClr val="windowText" lastClr="000000"/>
    </a:dk1>
    <a:lt1>
      <a:sysClr val="window" lastClr="FFFFFF"/>
    </a:lt1>
    <a:dk2>
      <a:srgbClr val="2C3932"/>
    </a:dk2>
    <a:lt2>
      <a:srgbClr val="FDF6EA"/>
    </a:lt2>
    <a:accent1>
      <a:srgbClr val="169C9A"/>
    </a:accent1>
    <a:accent2>
      <a:srgbClr val="FA9A42"/>
    </a:accent2>
    <a:accent3>
      <a:srgbClr val="E15C3D"/>
    </a:accent3>
    <a:accent4>
      <a:srgbClr val="E78A67"/>
    </a:accent4>
    <a:accent5>
      <a:srgbClr val="A74B40"/>
    </a:accent5>
    <a:accent6>
      <a:srgbClr val="3D9072"/>
    </a:accent6>
    <a:hlink>
      <a:srgbClr val="169C9A"/>
    </a:hlink>
    <a:folHlink>
      <a:srgbClr val="E15C3D"/>
    </a:folHlink>
  </a:clrScheme>
</a:themeOverride>
</file>

<file path=ppt/theme/themeOverride2.xml><?xml version="1.0" encoding="utf-8"?>
<a:themeOverride xmlns:a="http://schemas.openxmlformats.org/drawingml/2006/main">
  <a:clrScheme name="Vanilla">
    <a:dk1>
      <a:sysClr val="windowText" lastClr="000000"/>
    </a:dk1>
    <a:lt1>
      <a:sysClr val="window" lastClr="FFFFFF"/>
    </a:lt1>
    <a:dk2>
      <a:srgbClr val="2C3932"/>
    </a:dk2>
    <a:lt2>
      <a:srgbClr val="FDF6EA"/>
    </a:lt2>
    <a:accent1>
      <a:srgbClr val="169C9A"/>
    </a:accent1>
    <a:accent2>
      <a:srgbClr val="FA9A42"/>
    </a:accent2>
    <a:accent3>
      <a:srgbClr val="E15C3D"/>
    </a:accent3>
    <a:accent4>
      <a:srgbClr val="E78A67"/>
    </a:accent4>
    <a:accent5>
      <a:srgbClr val="A74B40"/>
    </a:accent5>
    <a:accent6>
      <a:srgbClr val="3D9072"/>
    </a:accent6>
    <a:hlink>
      <a:srgbClr val="169C9A"/>
    </a:hlink>
    <a:folHlink>
      <a:srgbClr val="E15C3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232</Words>
  <Application>Microsoft Macintosh PowerPoint</Application>
  <PresentationFormat>Widescreen</PresentationFormat>
  <Paragraphs>42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Neue Haas Grotesk Text Pro</vt:lpstr>
      <vt:lpstr>Times New Roman</vt:lpstr>
      <vt:lpstr>VanillaVTI</vt:lpstr>
      <vt:lpstr>Mexico City Mode comparison </vt:lpstr>
      <vt:lpstr>Single mode trip </vt:lpstr>
      <vt:lpstr>2007 vs 2017 single mode trip distribution</vt:lpstr>
      <vt:lpstr>Single-trip Metro vs multimodal Metro (2007)</vt:lpstr>
      <vt:lpstr>Single-trip Metro vs multimodal Metro (2017)</vt:lpstr>
      <vt:lpstr>Metro multimodal trip comparison</vt:lpstr>
      <vt:lpstr>BRT (0.5% vs. 1.1%)</vt:lpstr>
      <vt:lpstr>Bus (2.2%vs 1.95%)</vt:lpstr>
      <vt:lpstr>Bus only, High Capacity only, and bus +High Capacity</vt:lpstr>
      <vt:lpstr>Weighted trip Analysis</vt:lpstr>
      <vt:lpstr>2007 vs 2017 single-mode weighted trip distribution</vt:lpstr>
      <vt:lpstr>Single-trip Metro vs multimodal Metro (2007)</vt:lpstr>
      <vt:lpstr>Single-trip Metro vs multimodal Metro (2017)</vt:lpstr>
      <vt:lpstr>Metro multimodal trip comparison (weighted)</vt:lpstr>
      <vt:lpstr>BRT</vt:lpstr>
      <vt:lpstr>BUS</vt:lpstr>
      <vt:lpstr>Bus only, High Capacity only, and bus +High Capacity</vt:lpstr>
      <vt:lpstr>Mexico City</vt:lpstr>
      <vt:lpstr>2007 vs 2017 single-trip distribution</vt:lpstr>
      <vt:lpstr>Metro multimodal trip</vt:lpstr>
      <vt:lpstr>BRT Multimodal trip</vt:lpstr>
      <vt:lpstr>Bus trip</vt:lpstr>
      <vt:lpstr>High Capacity vs bus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Zhanchao Yang</dc:creator>
  <cp:lastModifiedBy>Zhanchao Yang</cp:lastModifiedBy>
  <cp:revision>19</cp:revision>
  <dcterms:created xsi:type="dcterms:W3CDTF">2025-08-24T16:09:38Z</dcterms:created>
  <dcterms:modified xsi:type="dcterms:W3CDTF">2025-09-16T02:45:32Z</dcterms:modified>
</cp:coreProperties>
</file>