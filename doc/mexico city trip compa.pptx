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6" r:id="rId31"/>
    <p:sldId id="285" r:id="rId32"/>
    <p:sldId id="287" r:id="rId33"/>
    <p:sldId id="288" r:id="rId34"/>
    <p:sldId id="29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74"/>
    <p:restoredTop sz="94676"/>
  </p:normalViewPr>
  <p:slideViewPr>
    <p:cSldViewPr snapToGrid="0">
      <p:cViewPr varScale="1">
        <p:scale>
          <a:sx n="111" d="100"/>
          <a:sy n="111" d="100"/>
        </p:scale>
        <p:origin x="216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149E3F-ECDA-E249-AFAB-866AB257B76A}" type="datetimeFigureOut">
              <a:rPr lang="en-US" smtClean="0"/>
              <a:t>9/22/25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827478-09EF-0B4C-9DCA-90879BE152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670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827478-09EF-0B4C-9DCA-90879BE1527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2015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827478-09EF-0B4C-9DCA-90879BE1527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6016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827478-09EF-0B4C-9DCA-90879BE1527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204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171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671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907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020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9/22/25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349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9/22/25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362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9/22/25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202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6050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166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758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063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72" r:id="rId6"/>
    <p:sldLayoutId id="2147483667" r:id="rId7"/>
    <p:sldLayoutId id="2147483668" r:id="rId8"/>
    <p:sldLayoutId id="2147483669" r:id="rId9"/>
    <p:sldLayoutId id="2147483671" r:id="rId10"/>
    <p:sldLayoutId id="214748367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80B98925-0550-1AFB-C1DC-02792400F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16" name="Picture 15" descr="3D rendering of a city in white">
            <a:extLst>
              <a:ext uri="{FF2B5EF4-FFF2-40B4-BE49-F238E27FC236}">
                <a16:creationId xmlns:a16="http://schemas.microsoft.com/office/drawing/2014/main" id="{8A99970A-DC68-AA33-CE62-D77B2D9638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408"/>
          <a:stretch>
            <a:fillRect/>
          </a:stretch>
        </p:blipFill>
        <p:spPr>
          <a:xfrm>
            <a:off x="21" y="10"/>
            <a:ext cx="12191979" cy="68579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CCA9273-E74E-A306-1F74-BEF9EDA30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246217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60000">
                <a:schemeClr val="bg1">
                  <a:alpha val="3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967DF3-0A93-45E1-0B84-E3BC4B46A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255830"/>
            <a:ext cx="8138160" cy="1061981"/>
          </a:xfrm>
        </p:spPr>
        <p:txBody>
          <a:bodyPr anchor="t">
            <a:normAutofit/>
          </a:bodyPr>
          <a:lstStyle/>
          <a:p>
            <a:pPr algn="l"/>
            <a:r>
              <a:rPr lang="en-US" sz="4100"/>
              <a:t>Mexico City Mode comparison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057916-1EB9-FE73-CC0F-150950C6C6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24800" y="5532013"/>
            <a:ext cx="4267179" cy="1325977"/>
          </a:xfrm>
        </p:spPr>
        <p:txBody>
          <a:bodyPr anchor="t">
            <a:normAutofit fontScale="92500" lnSpcReduction="10000"/>
          </a:bodyPr>
          <a:lstStyle/>
          <a:p>
            <a:pPr algn="r"/>
            <a:r>
              <a:rPr lang="en-US" sz="2000" dirty="0"/>
              <a:t>Household Travel Survey Analysis </a:t>
            </a:r>
          </a:p>
          <a:p>
            <a:pPr algn="r"/>
            <a:r>
              <a:rPr lang="en-US" sz="2000" dirty="0"/>
              <a:t>Zhanchao Yang</a:t>
            </a:r>
          </a:p>
          <a:p>
            <a:pPr algn="r"/>
            <a:r>
              <a:rPr lang="en-US" sz="2000" dirty="0"/>
              <a:t>2007-2017</a:t>
            </a:r>
          </a:p>
        </p:txBody>
      </p:sp>
    </p:spTree>
    <p:extLst>
      <p:ext uri="{BB962C8B-B14F-4D97-AF65-F5344CB8AC3E}">
        <p14:creationId xmlns:p14="http://schemas.microsoft.com/office/powerpoint/2010/main" val="4945668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F9404-AC2B-5901-76B8-BECE3EF49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mode trip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8E0F7-2745-9B42-8B80-EB1496711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77.59% (2007) vs 86.18% (2017)</a:t>
            </a:r>
          </a:p>
          <a:p>
            <a:endParaRPr lang="en-US" sz="4000" b="1" dirty="0"/>
          </a:p>
          <a:p>
            <a:endParaRPr lang="en-US" sz="4000" b="1" dirty="0"/>
          </a:p>
          <a:p>
            <a:pPr marL="0" indent="0">
              <a:buNone/>
            </a:pPr>
            <a:endParaRPr lang="en-US" sz="2400" b="1" dirty="0"/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Note: In 2017, walking was counted as a separate category. Walking + other modes is counted as “other” modes. </a:t>
            </a:r>
          </a:p>
          <a:p>
            <a:pPr lvl="1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walking + driving = driving </a:t>
            </a:r>
          </a:p>
        </p:txBody>
      </p:sp>
    </p:spTree>
    <p:extLst>
      <p:ext uri="{BB962C8B-B14F-4D97-AF65-F5344CB8AC3E}">
        <p14:creationId xmlns:p14="http://schemas.microsoft.com/office/powerpoint/2010/main" val="321493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994A8D-02FD-1FC9-EC4F-97A1A6FE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dirty="0"/>
              <a:t>2007 vs 2017 single mode trip distribution</a:t>
            </a:r>
          </a:p>
        </p:txBody>
      </p:sp>
      <p:pic>
        <p:nvPicPr>
          <p:cNvPr id="8" name="Picture 7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A78F2C82-413E-EAE8-64E8-BB9B39BBA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021" y="1778654"/>
            <a:ext cx="5297213" cy="3840480"/>
          </a:xfrm>
          <a:prstGeom prst="rect">
            <a:avLst/>
          </a:prstGeom>
        </p:spPr>
      </p:pic>
      <p:pic>
        <p:nvPicPr>
          <p:cNvPr id="5" name="Content Placeholder 4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48C698C9-A0B0-DF53-3128-39C4916609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92940" y="1778654"/>
            <a:ext cx="5297213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963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4B2A3-ECA6-6DC9-0701-50C81921A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847023"/>
          </a:xfrm>
        </p:spPr>
        <p:txBody>
          <a:bodyPr/>
          <a:lstStyle/>
          <a:p>
            <a:r>
              <a:rPr lang="en-US" dirty="0"/>
              <a:t>Single-trip Metro vs multimodal Metro (2007)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0597EA-3A14-7CC9-230B-2C41D252CE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95663"/>
            <a:ext cx="10653579" cy="4593828"/>
          </a:xfrm>
        </p:spPr>
        <p:txBody>
          <a:bodyPr/>
          <a:lstStyle/>
          <a:p>
            <a:r>
              <a:rPr lang="en-US" sz="4000" b="1" dirty="0"/>
              <a:t>6.13% vs 19.67%</a:t>
            </a:r>
          </a:p>
        </p:txBody>
      </p:sp>
      <p:pic>
        <p:nvPicPr>
          <p:cNvPr id="7" name="Picture 6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6AEFB5E3-9EA3-ADFD-795C-7A4B8CF93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3237" y="2334928"/>
            <a:ext cx="77724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2522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AFC1B422-B8D7-7478-E62C-65A4A0818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2711F-6312-2D5F-266D-D2B6E1C11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847023"/>
          </a:xfrm>
        </p:spPr>
        <p:txBody>
          <a:bodyPr/>
          <a:lstStyle/>
          <a:p>
            <a:r>
              <a:rPr lang="en-US" dirty="0"/>
              <a:t>Single-trip Metro vs multimodal Metro (2017)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4984C-486C-9616-2FEF-019DEB740B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95663"/>
            <a:ext cx="10653579" cy="1020278"/>
          </a:xfrm>
        </p:spPr>
        <p:txBody>
          <a:bodyPr/>
          <a:lstStyle/>
          <a:p>
            <a:r>
              <a:rPr lang="en-US" sz="4000" b="1" dirty="0"/>
              <a:t>2.46% vs 10.64%</a:t>
            </a:r>
          </a:p>
        </p:txBody>
      </p:sp>
      <p:pic>
        <p:nvPicPr>
          <p:cNvPr id="7" name="Picture 6" descr="A graph with numbers and a red line&#10;&#10;AI-generated content may be incorrect.">
            <a:extLst>
              <a:ext uri="{FF2B5EF4-FFF2-40B4-BE49-F238E27FC236}">
                <a16:creationId xmlns:a16="http://schemas.microsoft.com/office/drawing/2014/main" id="{CFDE38E4-814C-A299-76CC-48E1824B9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2415941"/>
            <a:ext cx="77724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2562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11B60-4E50-A60D-382C-B89AA7608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700" dirty="0"/>
              <a:t>Metro multimodal trip comparison</a:t>
            </a:r>
          </a:p>
        </p:txBody>
      </p:sp>
      <p:pic>
        <p:nvPicPr>
          <p:cNvPr id="7" name="Picture 6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895C1705-E4A1-38C5-A389-CC5D1A933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740" y="2362952"/>
            <a:ext cx="5567617" cy="2783807"/>
          </a:xfrm>
          <a:prstGeom prst="rect">
            <a:avLst/>
          </a:prstGeom>
        </p:spPr>
      </p:pic>
      <p:pic>
        <p:nvPicPr>
          <p:cNvPr id="9" name="Picture 8" descr="A graph with numbers and a red line&#10;&#10;AI-generated content may be incorrect.">
            <a:extLst>
              <a:ext uri="{FF2B5EF4-FFF2-40B4-BE49-F238E27FC236}">
                <a16:creationId xmlns:a16="http://schemas.microsoft.com/office/drawing/2014/main" id="{5E940B10-05DA-8D32-1DB6-12C7B1B82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024" y="2362952"/>
            <a:ext cx="5625723" cy="2812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917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AFD4CD-6A66-18DB-C1B2-4A05B0577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 dirty="0"/>
              <a:t>BRT (0.5% vs. 1.1%)</a:t>
            </a:r>
          </a:p>
        </p:txBody>
      </p:sp>
      <p:pic>
        <p:nvPicPr>
          <p:cNvPr id="11" name="Picture 10" descr="A graph with a bar and text&#10;&#10;AI-generated content may be incorrect.">
            <a:extLst>
              <a:ext uri="{FF2B5EF4-FFF2-40B4-BE49-F238E27FC236}">
                <a16:creationId xmlns:a16="http://schemas.microsoft.com/office/drawing/2014/main" id="{3B1EA71B-EF60-F60E-D860-D289E4556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740" y="2362952"/>
            <a:ext cx="5567617" cy="2018261"/>
          </a:xfrm>
          <a:prstGeom prst="rect">
            <a:avLst/>
          </a:prstGeom>
        </p:spPr>
      </p:pic>
      <p:pic>
        <p:nvPicPr>
          <p:cNvPr id="14" name="Picture 13" descr="A graph with a bar&#10;&#10;AI-generated content may be incorrect.">
            <a:extLst>
              <a:ext uri="{FF2B5EF4-FFF2-40B4-BE49-F238E27FC236}">
                <a16:creationId xmlns:a16="http://schemas.microsoft.com/office/drawing/2014/main" id="{91D7FC37-D224-3B8D-A540-76CB45ACF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024" y="2362952"/>
            <a:ext cx="5625723" cy="2039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461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D750A9-D2DB-2C48-E4AB-6AF9D09E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 dirty="0"/>
              <a:t>Bus (2.2%vs 1.95%)</a:t>
            </a:r>
          </a:p>
        </p:txBody>
      </p:sp>
      <p:pic>
        <p:nvPicPr>
          <p:cNvPr id="5" name="Content Placeholder 4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A8C16DB0-A1A1-E831-3BBC-AA25F7647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1740" y="2362952"/>
            <a:ext cx="5567617" cy="2018261"/>
          </a:xfrm>
          <a:prstGeom prst="rect">
            <a:avLst/>
          </a:prstGeom>
        </p:spPr>
      </p:pic>
      <p:pic>
        <p:nvPicPr>
          <p:cNvPr id="7" name="Picture 6" descr="A graph with text and numbers&#10;&#10;AI-generated content may be incorrect.">
            <a:extLst>
              <a:ext uri="{FF2B5EF4-FFF2-40B4-BE49-F238E27FC236}">
                <a16:creationId xmlns:a16="http://schemas.microsoft.com/office/drawing/2014/main" id="{BB58F2B2-D64B-0DED-A2D8-C65A8C9D9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024" y="2362952"/>
            <a:ext cx="5625723" cy="1870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796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BDE9AD-A6E1-FE5F-6473-13163A186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dirty="0"/>
              <a:t>Bus only, High Capacity only, and bus +High Capacity</a:t>
            </a:r>
          </a:p>
        </p:txBody>
      </p:sp>
      <p:pic>
        <p:nvPicPr>
          <p:cNvPr id="7" name="Picture 6" descr="A graph with multiple colored squares&#10;&#10;AI-generated content may be incorrect.">
            <a:extLst>
              <a:ext uri="{FF2B5EF4-FFF2-40B4-BE49-F238E27FC236}">
                <a16:creationId xmlns:a16="http://schemas.microsoft.com/office/drawing/2014/main" id="{11E581CC-045F-7994-01BA-67BDF7DD8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5849" y="2575722"/>
            <a:ext cx="5559552" cy="2015337"/>
          </a:xfrm>
          <a:prstGeom prst="rect">
            <a:avLst/>
          </a:prstGeom>
        </p:spPr>
      </p:pic>
      <p:pic>
        <p:nvPicPr>
          <p:cNvPr id="5" name="Content Placeholder 4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521E9624-547F-882E-B3E7-BE66DADDB2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3149" y="2575722"/>
            <a:ext cx="5559552" cy="201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290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4689C-7E2A-F724-62AF-5333111E4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Weighted trip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7A4EC-CDB3-5573-EDDD-1EEA67930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b="1" dirty="0"/>
              <a:t>Single-mode trips</a:t>
            </a:r>
          </a:p>
          <a:p>
            <a:r>
              <a:rPr lang="en-US" dirty="0"/>
              <a:t>76.68% (2007) vs 70.47% (2017, excluding walking) </a:t>
            </a:r>
          </a:p>
          <a:p>
            <a:r>
              <a:rPr lang="en-US" dirty="0"/>
              <a:t>76.68% (2007) vs 79.25% (2017, including walking)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6801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8AB78B-86E9-A829-F86D-BB51CE7AF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2800"/>
              <a:t>2007 vs 2017 single-mode weighted trip distribution</a:t>
            </a:r>
          </a:p>
        </p:txBody>
      </p:sp>
      <p:pic>
        <p:nvPicPr>
          <p:cNvPr id="7" name="Picture 6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0E0F09BB-FC5C-1245-50F2-26565953E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681" y="2362952"/>
            <a:ext cx="5297213" cy="3840480"/>
          </a:xfrm>
          <a:prstGeom prst="rect">
            <a:avLst/>
          </a:prstGeom>
        </p:spPr>
      </p:pic>
      <p:pic>
        <p:nvPicPr>
          <p:cNvPr id="5" name="Content Placeholder 4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3B9FD19F-74F8-3A6B-F4C2-F477811CDC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16128" y="2362952"/>
            <a:ext cx="5297213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459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B832F-AB79-BA40-7E7D-F94F23362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Single-trip Metro vs multimodal Metro (2007)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975C0-EC62-9FF0-2DE0-09FFDC479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5.94% vs 19.66%</a:t>
            </a:r>
          </a:p>
        </p:txBody>
      </p:sp>
      <p:pic>
        <p:nvPicPr>
          <p:cNvPr id="5" name="Picture 4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9B3BB3B3-059A-57A2-BC8E-4A07687AA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53452"/>
            <a:ext cx="7772400" cy="445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5389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10DFA-49C9-A8AF-890B-7AA64999C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C8DBA-24F3-20A6-B0FC-D3A29D142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Single-trip Metro vs multimodal Metro (2017)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CDFC-3B4F-E457-8DC5-EFAFBC6B8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3.44% vs 22.71%</a:t>
            </a:r>
          </a:p>
        </p:txBody>
      </p:sp>
      <p:pic>
        <p:nvPicPr>
          <p:cNvPr id="6" name="Picture 5" descr="A graph with numbers and a bar&#10;&#10;AI-generated content may be incorrect.">
            <a:extLst>
              <a:ext uri="{FF2B5EF4-FFF2-40B4-BE49-F238E27FC236}">
                <a16:creationId xmlns:a16="http://schemas.microsoft.com/office/drawing/2014/main" id="{B7D8B06D-D99E-2AE1-8E3D-B769BC3F6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297831"/>
            <a:ext cx="7772400" cy="445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237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A99E35-5CDF-0A53-4655-5CB8538A6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/>
              <a:t>Metro multimodal trip comparison (weighted)</a:t>
            </a:r>
          </a:p>
        </p:txBody>
      </p:sp>
      <p:pic>
        <p:nvPicPr>
          <p:cNvPr id="5" name="Picture 4" descr="A graph with numbers and a bar&#10;&#10;AI-generated content may be incorrect.">
            <a:extLst>
              <a:ext uri="{FF2B5EF4-FFF2-40B4-BE49-F238E27FC236}">
                <a16:creationId xmlns:a16="http://schemas.microsoft.com/office/drawing/2014/main" id="{67DFD3D9-0DD9-9D71-2198-7F14F7121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550" y="1991969"/>
            <a:ext cx="5559552" cy="3182843"/>
          </a:xfrm>
          <a:prstGeom prst="rect">
            <a:avLst/>
          </a:prstGeom>
        </p:spPr>
      </p:pic>
      <p:pic>
        <p:nvPicPr>
          <p:cNvPr id="4" name="Picture 3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80970368-4968-C7A1-5AEC-3293B07C8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999" y="1991969"/>
            <a:ext cx="5559552" cy="318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217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065CE5-815E-92C2-5B81-38FFF83BC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BRT</a:t>
            </a:r>
          </a:p>
        </p:txBody>
      </p:sp>
      <p:pic>
        <p:nvPicPr>
          <p:cNvPr id="5" name="Content Placeholder 4" descr="A graph with a yellow bar&#10;&#10;AI-generated content may be incorrect.">
            <a:extLst>
              <a:ext uri="{FF2B5EF4-FFF2-40B4-BE49-F238E27FC236}">
                <a16:creationId xmlns:a16="http://schemas.microsoft.com/office/drawing/2014/main" id="{99DAF57A-2C68-2FBF-6661-166C24D469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27550" y="2691223"/>
            <a:ext cx="5559552" cy="2015337"/>
          </a:xfrm>
          <a:prstGeom prst="rect">
            <a:avLst/>
          </a:prstGeom>
        </p:spPr>
      </p:pic>
      <p:pic>
        <p:nvPicPr>
          <p:cNvPr id="7" name="Picture 6" descr="A graph with a bar&#10;&#10;AI-generated content may be incorrect.">
            <a:extLst>
              <a:ext uri="{FF2B5EF4-FFF2-40B4-BE49-F238E27FC236}">
                <a16:creationId xmlns:a16="http://schemas.microsoft.com/office/drawing/2014/main" id="{D95EB8C7-E105-B645-B19B-D7B2093AF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98" y="2691223"/>
            <a:ext cx="5559552" cy="201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7882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95DD48-AE76-A403-FCA2-6DDCFDF87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BUS</a:t>
            </a:r>
          </a:p>
        </p:txBody>
      </p:sp>
      <p:pic>
        <p:nvPicPr>
          <p:cNvPr id="7" name="Picture 6" descr="A graph with a bar chart&#10;&#10;AI-generated content may be incorrect.">
            <a:extLst>
              <a:ext uri="{FF2B5EF4-FFF2-40B4-BE49-F238E27FC236}">
                <a16:creationId xmlns:a16="http://schemas.microsoft.com/office/drawing/2014/main" id="{ADAE6940-7202-D448-725A-C59B7FC18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40" y="2691225"/>
            <a:ext cx="5559552" cy="2015337"/>
          </a:xfrm>
          <a:prstGeom prst="rect">
            <a:avLst/>
          </a:prstGeom>
        </p:spPr>
      </p:pic>
      <p:pic>
        <p:nvPicPr>
          <p:cNvPr id="5" name="Picture 4" descr="A chart with a yellow and blue bar&#10;&#10;AI-generated content may be incorrect.">
            <a:extLst>
              <a:ext uri="{FF2B5EF4-FFF2-40B4-BE49-F238E27FC236}">
                <a16:creationId xmlns:a16="http://schemas.microsoft.com/office/drawing/2014/main" id="{C081614B-C544-AE4A-4329-6886DD43FA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925" y="2906658"/>
            <a:ext cx="5559552" cy="1584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02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6782C6-FCF2-0D48-AF20-56228F885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/>
              <a:t>Bus only, High Capacity only, and bus +High Capacity</a:t>
            </a:r>
          </a:p>
        </p:txBody>
      </p:sp>
      <p:pic>
        <p:nvPicPr>
          <p:cNvPr id="5" name="Picture 4" descr="A graph with a bar graph&#10;&#10;AI-generated content may be incorrect.">
            <a:extLst>
              <a:ext uri="{FF2B5EF4-FFF2-40B4-BE49-F238E27FC236}">
                <a16:creationId xmlns:a16="http://schemas.microsoft.com/office/drawing/2014/main" id="{316D7325-1420-7507-E74A-4786E4E96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40" y="2691225"/>
            <a:ext cx="5559552" cy="2015337"/>
          </a:xfrm>
          <a:prstGeom prst="rect">
            <a:avLst/>
          </a:prstGeom>
        </p:spPr>
      </p:pic>
      <p:pic>
        <p:nvPicPr>
          <p:cNvPr id="7" name="Picture 6" descr="A graph with a bar graph&#10;&#10;AI-generated content may be incorrect.">
            <a:extLst>
              <a:ext uri="{FF2B5EF4-FFF2-40B4-BE49-F238E27FC236}">
                <a16:creationId xmlns:a16="http://schemas.microsoft.com/office/drawing/2014/main" id="{E10B16C5-B6AC-C84E-99AC-011A6A4C3E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925" y="2691225"/>
            <a:ext cx="5559552" cy="201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2189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5F185-667A-A638-B5F8-F4551AFF7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211" y="2862871"/>
            <a:ext cx="10653578" cy="1132258"/>
          </a:xfrm>
        </p:spPr>
        <p:txBody>
          <a:bodyPr/>
          <a:lstStyle/>
          <a:p>
            <a:r>
              <a:rPr lang="en-US" altLang="zh-CN" dirty="0"/>
              <a:t>Mexico</a:t>
            </a:r>
            <a:r>
              <a:rPr lang="zh-CN" altLang="en-US" dirty="0"/>
              <a:t> </a:t>
            </a:r>
            <a:r>
              <a:rPr lang="en-US" altLang="zh-CN" dirty="0"/>
              <a:t>City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1359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AA7334-5D95-72F7-4931-CB0C72C23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4000" dirty="0"/>
              <a:t>2007 vs 2017 single-trip distribution</a:t>
            </a:r>
            <a:endParaRPr lang="en-US" sz="4000" dirty="0"/>
          </a:p>
        </p:txBody>
      </p:sp>
      <p:pic>
        <p:nvPicPr>
          <p:cNvPr id="5" name="Picture 4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4F9AF321-D05F-FCD5-62BC-9353F44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486" y="1778654"/>
            <a:ext cx="5155006" cy="3840480"/>
          </a:xfrm>
          <a:prstGeom prst="rect">
            <a:avLst/>
          </a:prstGeom>
        </p:spPr>
      </p:pic>
      <p:pic>
        <p:nvPicPr>
          <p:cNvPr id="7" name="Picture 6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BD3E73DD-7CDF-E3F8-EDED-CD73C53E4B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925" y="1778654"/>
            <a:ext cx="5155006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0452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C1CF67-A555-CA58-F8BE-A363A149B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4000"/>
              <a:t>Metro multimodal trip</a:t>
            </a:r>
            <a:endParaRPr lang="en-US" sz="4000"/>
          </a:p>
        </p:txBody>
      </p:sp>
      <p:pic>
        <p:nvPicPr>
          <p:cNvPr id="5" name="Picture 4" descr="A graph with colorful bars&#10;&#10;AI-generated content may be incorrect.">
            <a:extLst>
              <a:ext uri="{FF2B5EF4-FFF2-40B4-BE49-F238E27FC236}">
                <a16:creationId xmlns:a16="http://schemas.microsoft.com/office/drawing/2014/main" id="{C00AB702-4F24-57C8-C646-5C8698F67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868" y="2086012"/>
            <a:ext cx="5155006" cy="3840480"/>
          </a:xfrm>
          <a:prstGeom prst="rect">
            <a:avLst/>
          </a:prstGeom>
        </p:spPr>
      </p:pic>
      <p:pic>
        <p:nvPicPr>
          <p:cNvPr id="7" name="Picture 6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5088F7FD-03DB-5359-ACB4-C65128E56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568" y="2117910"/>
            <a:ext cx="5155006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6660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FD10A5-FEEB-40F7-F2C8-F25974EA1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4000"/>
              <a:t>BRT Multimodal trip</a:t>
            </a:r>
            <a:endParaRPr lang="en-US" sz="4000"/>
          </a:p>
        </p:txBody>
      </p:sp>
      <p:pic>
        <p:nvPicPr>
          <p:cNvPr id="7" name="Picture 6" descr="A graph with a yellow rectangle and blue squares&#10;&#10;AI-generated content may be incorrect.">
            <a:extLst>
              <a:ext uri="{FF2B5EF4-FFF2-40B4-BE49-F238E27FC236}">
                <a16:creationId xmlns:a16="http://schemas.microsoft.com/office/drawing/2014/main" id="{CEBF3803-C336-F4A2-A986-8239B00BA5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86" y="1768022"/>
            <a:ext cx="5155006" cy="3840480"/>
          </a:xfrm>
          <a:prstGeom prst="rect">
            <a:avLst/>
          </a:prstGeom>
        </p:spPr>
      </p:pic>
      <p:pic>
        <p:nvPicPr>
          <p:cNvPr id="5" name="Picture 4" descr="A graph with a bar graph&#10;&#10;AI-generated content may be incorrect.">
            <a:extLst>
              <a:ext uri="{FF2B5EF4-FFF2-40B4-BE49-F238E27FC236}">
                <a16:creationId xmlns:a16="http://schemas.microsoft.com/office/drawing/2014/main" id="{5101517C-F787-3FF0-2067-BF183D869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880" y="1768022"/>
            <a:ext cx="5155006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2801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4EFB2-B975-FA19-150C-70438564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4000"/>
              <a:t>Bus trip</a:t>
            </a:r>
            <a:endParaRPr lang="en-US" sz="4000"/>
          </a:p>
        </p:txBody>
      </p:sp>
      <p:pic>
        <p:nvPicPr>
          <p:cNvPr id="5" name="Picture 4" descr="A graph of a number of different colored squares&#10;&#10;AI-generated content may be incorrect.">
            <a:extLst>
              <a:ext uri="{FF2B5EF4-FFF2-40B4-BE49-F238E27FC236}">
                <a16:creationId xmlns:a16="http://schemas.microsoft.com/office/drawing/2014/main" id="{F5B172DE-A54B-9862-9B48-4D433C388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486" y="1778654"/>
            <a:ext cx="5155006" cy="3840480"/>
          </a:xfrm>
          <a:prstGeom prst="rect">
            <a:avLst/>
          </a:prstGeom>
        </p:spPr>
      </p:pic>
      <p:pic>
        <p:nvPicPr>
          <p:cNvPr id="7" name="Picture 6" descr="A graph of a bus&#10;&#10;AI-generated content may be incorrect.">
            <a:extLst>
              <a:ext uri="{FF2B5EF4-FFF2-40B4-BE49-F238E27FC236}">
                <a16:creationId xmlns:a16="http://schemas.microsoft.com/office/drawing/2014/main" id="{3C36CF7C-120E-2F40-292C-A4146273C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925" y="1843394"/>
            <a:ext cx="5559552" cy="371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548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B9024E-4538-333B-6D7F-FA38561CC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4000"/>
              <a:t>High Capacity vs bus</a:t>
            </a:r>
            <a:endParaRPr lang="en-US" sz="4000"/>
          </a:p>
        </p:txBody>
      </p:sp>
      <p:pic>
        <p:nvPicPr>
          <p:cNvPr id="7" name="Picture 6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D43D5536-23EF-42C1-2920-8AE4A2131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71" y="2117910"/>
            <a:ext cx="5559552" cy="3711000"/>
          </a:xfrm>
          <a:prstGeom prst="rect">
            <a:avLst/>
          </a:prstGeom>
        </p:spPr>
      </p:pic>
      <p:pic>
        <p:nvPicPr>
          <p:cNvPr id="5" name="Picture 4" descr="A graph showing different colored squares&#10;&#10;AI-generated content may be incorrect.">
            <a:extLst>
              <a:ext uri="{FF2B5EF4-FFF2-40B4-BE49-F238E27FC236}">
                <a16:creationId xmlns:a16="http://schemas.microsoft.com/office/drawing/2014/main" id="{BBD18066-1200-341F-7066-61082D823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940" y="2117910"/>
            <a:ext cx="5559552" cy="318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2567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94AD5-E6C9-E91C-C606-87FABD302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6EE31-25BD-C550-5B51-76E9BD00E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211" y="2862871"/>
            <a:ext cx="10653578" cy="1132258"/>
          </a:xfrm>
        </p:spPr>
        <p:txBody>
          <a:bodyPr/>
          <a:lstStyle/>
          <a:p>
            <a:r>
              <a:rPr lang="en-US" altLang="zh-CN" dirty="0"/>
              <a:t>Out of Mexico</a:t>
            </a:r>
            <a:r>
              <a:rPr lang="zh-CN" altLang="en-US" dirty="0"/>
              <a:t> </a:t>
            </a:r>
            <a:r>
              <a:rPr lang="en-US" altLang="zh-CN" dirty="0"/>
              <a:t>City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31808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0776D1-B2D1-DB15-5CD7-62BEBDC22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4000"/>
              <a:t>2007 vs 2017 single-trip distribution</a:t>
            </a:r>
            <a:endParaRPr lang="en-US" sz="4000"/>
          </a:p>
        </p:txBody>
      </p:sp>
      <p:pic>
        <p:nvPicPr>
          <p:cNvPr id="7" name="Picture 6" descr="A graph of a number of trips&#10;&#10;AI-generated content may be incorrect.">
            <a:extLst>
              <a:ext uri="{FF2B5EF4-FFF2-40B4-BE49-F238E27FC236}">
                <a16:creationId xmlns:a16="http://schemas.microsoft.com/office/drawing/2014/main" id="{29A409EC-4FCB-31F7-3A1F-B75BC246A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096" y="1757389"/>
            <a:ext cx="5155006" cy="3840480"/>
          </a:xfrm>
          <a:prstGeom prst="rect">
            <a:avLst/>
          </a:prstGeom>
        </p:spPr>
      </p:pic>
      <p:pic>
        <p:nvPicPr>
          <p:cNvPr id="5" name="Picture 4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6B1A0D74-8C0C-DED1-E7C0-575FB98933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94" y="1757389"/>
            <a:ext cx="5155006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4910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3F5E461-A014-9B58-DDA5-B3796228E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30961-76DB-AFA1-86EA-E262F9F90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2209" y="323326"/>
            <a:ext cx="8728364" cy="113282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/>
              <a:t>Metro</a:t>
            </a:r>
            <a:r>
              <a:rPr lang="en-US" altLang="zh-CN" sz="4400"/>
              <a:t> multimodal trip</a:t>
            </a:r>
            <a:endParaRPr lang="en-US" sz="4400"/>
          </a:p>
        </p:txBody>
      </p:sp>
      <p:pic>
        <p:nvPicPr>
          <p:cNvPr id="5" name="Picture 4" descr="A graph of multicolored squares&#10;&#10;AI-generated content may be incorrect.">
            <a:extLst>
              <a:ext uri="{FF2B5EF4-FFF2-40B4-BE49-F238E27FC236}">
                <a16:creationId xmlns:a16="http://schemas.microsoft.com/office/drawing/2014/main" id="{0D4D875A-36FD-B89E-8993-78D01513A4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3" b="7393"/>
          <a:stretch>
            <a:fillRect/>
          </a:stretch>
        </p:blipFill>
        <p:spPr>
          <a:xfrm>
            <a:off x="25031" y="2169898"/>
            <a:ext cx="6070969" cy="4188372"/>
          </a:xfrm>
          <a:prstGeom prst="rect">
            <a:avLst/>
          </a:prstGeom>
        </p:spPr>
      </p:pic>
      <p:pic>
        <p:nvPicPr>
          <p:cNvPr id="7" name="Picture 6" descr="A graph with text and numbers&#10;&#10;AI-generated content may be incorrect.">
            <a:extLst>
              <a:ext uri="{FF2B5EF4-FFF2-40B4-BE49-F238E27FC236}">
                <a16:creationId xmlns:a16="http://schemas.microsoft.com/office/drawing/2014/main" id="{1A54392B-FC57-D7CD-9975-E19C7F01D1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2" b="7381"/>
          <a:stretch>
            <a:fillRect/>
          </a:stretch>
        </p:blipFill>
        <p:spPr>
          <a:xfrm>
            <a:off x="6146895" y="2169898"/>
            <a:ext cx="6070115" cy="4188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76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3F5E461-A014-9B58-DDA5-B3796228E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E8B099-957E-8C59-606A-6B5187D5B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2209" y="323326"/>
            <a:ext cx="8728364" cy="113282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/>
              <a:t>BRT</a:t>
            </a:r>
          </a:p>
        </p:txBody>
      </p:sp>
      <p:pic>
        <p:nvPicPr>
          <p:cNvPr id="7" name="Picture 6" descr="A graph with a bar chart&#10;&#10;AI-generated content may be incorrect.">
            <a:extLst>
              <a:ext uri="{FF2B5EF4-FFF2-40B4-BE49-F238E27FC236}">
                <a16:creationId xmlns:a16="http://schemas.microsoft.com/office/drawing/2014/main" id="{1119016F-4534-85D5-B20D-9BE07324DD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3" b="7393"/>
          <a:stretch>
            <a:fillRect/>
          </a:stretch>
        </p:blipFill>
        <p:spPr>
          <a:xfrm>
            <a:off x="21" y="1779481"/>
            <a:ext cx="6070969" cy="4188372"/>
          </a:xfrm>
          <a:prstGeom prst="rect">
            <a:avLst/>
          </a:prstGeom>
        </p:spPr>
      </p:pic>
      <p:pic>
        <p:nvPicPr>
          <p:cNvPr id="5" name="Picture 4" descr="A graph with a bar chart&#10;&#10;AI-generated content may be incorrect.">
            <a:extLst>
              <a:ext uri="{FF2B5EF4-FFF2-40B4-BE49-F238E27FC236}">
                <a16:creationId xmlns:a16="http://schemas.microsoft.com/office/drawing/2014/main" id="{A14345A9-180E-529F-B5F1-DBA99E2E96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2" b="7381"/>
          <a:stretch>
            <a:fillRect/>
          </a:stretch>
        </p:blipFill>
        <p:spPr>
          <a:xfrm>
            <a:off x="6121885" y="1779481"/>
            <a:ext cx="6070115" cy="4188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208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282686-D0FB-F873-4D58-1348852AB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Bus</a:t>
            </a:r>
          </a:p>
        </p:txBody>
      </p:sp>
      <p:pic>
        <p:nvPicPr>
          <p:cNvPr id="5" name="Picture 4" descr="A graph showing a number of buses&#10;&#10;AI-generated content may be incorrect.">
            <a:extLst>
              <a:ext uri="{FF2B5EF4-FFF2-40B4-BE49-F238E27FC236}">
                <a16:creationId xmlns:a16="http://schemas.microsoft.com/office/drawing/2014/main" id="{541F6D25-8297-1A56-9DEA-478FBC295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486" y="1778654"/>
            <a:ext cx="5155006" cy="3840480"/>
          </a:xfrm>
          <a:prstGeom prst="rect">
            <a:avLst/>
          </a:prstGeom>
        </p:spPr>
      </p:pic>
      <p:pic>
        <p:nvPicPr>
          <p:cNvPr id="7" name="Picture 6" descr="A graph of a bus trip&#10;&#10;AI-generated content may be incorrect.">
            <a:extLst>
              <a:ext uri="{FF2B5EF4-FFF2-40B4-BE49-F238E27FC236}">
                <a16:creationId xmlns:a16="http://schemas.microsoft.com/office/drawing/2014/main" id="{8A06D6CF-7679-29D9-7A38-54A00D4DC7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925" y="2107472"/>
            <a:ext cx="5559552" cy="318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9365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882AC5-9139-1831-D7BC-27B6BB5E0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High Capacity</a:t>
            </a:r>
          </a:p>
        </p:txBody>
      </p:sp>
      <p:pic>
        <p:nvPicPr>
          <p:cNvPr id="7" name="Picture 6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A0578224-7814-277E-7A9B-8871D70D4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4890" y="1832761"/>
            <a:ext cx="5559552" cy="3711000"/>
          </a:xfrm>
          <a:prstGeom prst="rect">
            <a:avLst/>
          </a:prstGeom>
        </p:spPr>
      </p:pic>
      <p:pic>
        <p:nvPicPr>
          <p:cNvPr id="5" name="Picture 4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2B980DDC-0E8C-EBC2-4BCB-F617F99AB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908" y="1832761"/>
            <a:ext cx="5559552" cy="371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93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83E2D-E820-2CA0-3F10-440FFB9EB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0752B-2034-0522-DE7E-9E1E7A4DE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211" y="2862871"/>
            <a:ext cx="10653578" cy="1132258"/>
          </a:xfrm>
        </p:spPr>
        <p:txBody>
          <a:bodyPr/>
          <a:lstStyle/>
          <a:p>
            <a:r>
              <a:rPr lang="en-US" altLang="zh-CN" dirty="0"/>
              <a:t>Sampling Examination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6742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A183-EB65-F3D1-7595-BC5618C7D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Overall sampling (household based)</a:t>
            </a:r>
          </a:p>
        </p:txBody>
      </p:sp>
      <p:pic>
        <p:nvPicPr>
          <p:cNvPr id="7" name="Picture 6" descr="A map of a survey&#10;&#10;AI-generated content may be incorrect.">
            <a:extLst>
              <a:ext uri="{FF2B5EF4-FFF2-40B4-BE49-F238E27FC236}">
                <a16:creationId xmlns:a16="http://schemas.microsoft.com/office/drawing/2014/main" id="{A54C3914-9811-FF92-A136-CE21F5E9E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094" y="1913227"/>
            <a:ext cx="5155008" cy="3840480"/>
          </a:xfrm>
          <a:prstGeom prst="rect">
            <a:avLst/>
          </a:prstGeom>
        </p:spPr>
      </p:pic>
      <p:pic>
        <p:nvPicPr>
          <p:cNvPr id="5" name="Content Placeholder 4" descr="A map of different colored states&#10;&#10;AI-generated content may be incorrect.">
            <a:extLst>
              <a:ext uri="{FF2B5EF4-FFF2-40B4-BE49-F238E27FC236}">
                <a16:creationId xmlns:a16="http://schemas.microsoft.com/office/drawing/2014/main" id="{04A36182-B006-ECD3-BDDB-28DFC66D3C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38543" y="1913227"/>
            <a:ext cx="5155008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096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95C9DA-1EDF-0CD6-4B4A-C1B426E27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dirty="0"/>
              <a:t>High-Capacity Only Trip Distribution </a:t>
            </a:r>
            <a:br>
              <a:rPr lang="en-US" sz="3700" dirty="0"/>
            </a:br>
            <a:r>
              <a:rPr lang="en-US" sz="3700" dirty="0"/>
              <a:t>2007 left, 2017 right</a:t>
            </a:r>
          </a:p>
        </p:txBody>
      </p:sp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3CFF9582-9215-468E-5CAC-23B70DFD6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550" y="2008985"/>
            <a:ext cx="5559552" cy="3683201"/>
          </a:xfrm>
          <a:prstGeom prst="rect">
            <a:avLst/>
          </a:prstGeom>
        </p:spPr>
      </p:pic>
      <p:pic>
        <p:nvPicPr>
          <p:cNvPr id="5" name="Content Placeholder 4" descr="A map of different colored states&#10;&#10;AI-generated content may be incorrect.">
            <a:extLst>
              <a:ext uri="{FF2B5EF4-FFF2-40B4-BE49-F238E27FC236}">
                <a16:creationId xmlns:a16="http://schemas.microsoft.com/office/drawing/2014/main" id="{06C8E3FE-0778-E1C7-3FD3-61EF03D70E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13457"/>
          <a:stretch>
            <a:fillRect/>
          </a:stretch>
        </p:blipFill>
        <p:spPr>
          <a:xfrm>
            <a:off x="263100" y="1947465"/>
            <a:ext cx="5559552" cy="380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8853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4A4CDA-5AB5-A798-22C4-993EF7282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9D7BD9-38C5-4751-0A17-D37A5DA46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dirty="0"/>
              <a:t>Bus Only Trip Distribution </a:t>
            </a:r>
            <a:br>
              <a:rPr lang="en-US" sz="3700" dirty="0"/>
            </a:br>
            <a:r>
              <a:rPr lang="en-US" sz="3700" dirty="0"/>
              <a:t>2007 left, 2017 right</a:t>
            </a:r>
          </a:p>
        </p:txBody>
      </p:sp>
      <p:pic>
        <p:nvPicPr>
          <p:cNvPr id="10" name="Picture 9" descr="A map of different colors&#10;&#10;AI-generated content may be incorrect.">
            <a:extLst>
              <a:ext uri="{FF2B5EF4-FFF2-40B4-BE49-F238E27FC236}">
                <a16:creationId xmlns:a16="http://schemas.microsoft.com/office/drawing/2014/main" id="{5985A4AA-C64D-90B2-7255-18EAC1DB0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902" y="2104012"/>
            <a:ext cx="5559552" cy="3377426"/>
          </a:xfrm>
          <a:prstGeom prst="rect">
            <a:avLst/>
          </a:prstGeom>
        </p:spPr>
      </p:pic>
      <p:pic>
        <p:nvPicPr>
          <p:cNvPr id="4" name="Picture 3" descr="A map of different colored states&#10;&#10;AI-generated content may be incorrect.">
            <a:extLst>
              <a:ext uri="{FF2B5EF4-FFF2-40B4-BE49-F238E27FC236}">
                <a16:creationId xmlns:a16="http://schemas.microsoft.com/office/drawing/2014/main" id="{05DD332F-6CCC-1FA8-35F5-1378A6E23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1" y="2117910"/>
            <a:ext cx="5559552" cy="334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6211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9B81B3-7B2D-EEC7-0CB7-E7E009A48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54C7EC-148F-2061-53A6-DBF869468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dirty="0"/>
              <a:t>Bus + High-Capacity Trip Distribution </a:t>
            </a:r>
            <a:br>
              <a:rPr lang="en-US" sz="3700" dirty="0"/>
            </a:br>
            <a:r>
              <a:rPr lang="en-US" sz="3700" dirty="0"/>
              <a:t>2007 left, 2017 right</a:t>
            </a:r>
          </a:p>
        </p:txBody>
      </p:sp>
      <p:pic>
        <p:nvPicPr>
          <p:cNvPr id="7" name="Picture 6" descr="A map of different colored states&#10;&#10;AI-generated content may be incorrect.">
            <a:extLst>
              <a:ext uri="{FF2B5EF4-FFF2-40B4-BE49-F238E27FC236}">
                <a16:creationId xmlns:a16="http://schemas.microsoft.com/office/drawing/2014/main" id="{51B58F9E-D3E7-60DB-65D5-59DD787BC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550" y="2006719"/>
            <a:ext cx="5559552" cy="3391326"/>
          </a:xfrm>
          <a:prstGeom prst="rect">
            <a:avLst/>
          </a:prstGeom>
        </p:spPr>
      </p:pic>
      <p:pic>
        <p:nvPicPr>
          <p:cNvPr id="5" name="Picture 4" descr="A map of different colors&#10;&#10;AI-generated content may be incorrect.">
            <a:extLst>
              <a:ext uri="{FF2B5EF4-FFF2-40B4-BE49-F238E27FC236}">
                <a16:creationId xmlns:a16="http://schemas.microsoft.com/office/drawing/2014/main" id="{AB3B63F0-6617-FD0E-CCEC-68A582339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999" y="2117910"/>
            <a:ext cx="5559552" cy="3280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018022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Vanilla">
    <a:dk1>
      <a:sysClr val="windowText" lastClr="000000"/>
    </a:dk1>
    <a:lt1>
      <a:sysClr val="window" lastClr="FFFFFF"/>
    </a:lt1>
    <a:dk2>
      <a:srgbClr val="2C3932"/>
    </a:dk2>
    <a:lt2>
      <a:srgbClr val="FDF6EA"/>
    </a:lt2>
    <a:accent1>
      <a:srgbClr val="169C9A"/>
    </a:accent1>
    <a:accent2>
      <a:srgbClr val="FA9A42"/>
    </a:accent2>
    <a:accent3>
      <a:srgbClr val="E15C3D"/>
    </a:accent3>
    <a:accent4>
      <a:srgbClr val="E78A67"/>
    </a:accent4>
    <a:accent5>
      <a:srgbClr val="A74B40"/>
    </a:accent5>
    <a:accent6>
      <a:srgbClr val="3D9072"/>
    </a:accent6>
    <a:hlink>
      <a:srgbClr val="169C9A"/>
    </a:hlink>
    <a:folHlink>
      <a:srgbClr val="E15C3D"/>
    </a:folHlink>
  </a:clrScheme>
</a:themeOverride>
</file>

<file path=ppt/theme/themeOverride2.xml><?xml version="1.0" encoding="utf-8"?>
<a:themeOverride xmlns:a="http://schemas.openxmlformats.org/drawingml/2006/main">
  <a:clrScheme name="Vanilla">
    <a:dk1>
      <a:sysClr val="windowText" lastClr="000000"/>
    </a:dk1>
    <a:lt1>
      <a:sysClr val="window" lastClr="FFFFFF"/>
    </a:lt1>
    <a:dk2>
      <a:srgbClr val="2C3932"/>
    </a:dk2>
    <a:lt2>
      <a:srgbClr val="FDF6EA"/>
    </a:lt2>
    <a:accent1>
      <a:srgbClr val="169C9A"/>
    </a:accent1>
    <a:accent2>
      <a:srgbClr val="FA9A42"/>
    </a:accent2>
    <a:accent3>
      <a:srgbClr val="E15C3D"/>
    </a:accent3>
    <a:accent4>
      <a:srgbClr val="E78A67"/>
    </a:accent4>
    <a:accent5>
      <a:srgbClr val="A74B40"/>
    </a:accent5>
    <a:accent6>
      <a:srgbClr val="3D9072"/>
    </a:accent6>
    <a:hlink>
      <a:srgbClr val="169C9A"/>
    </a:hlink>
    <a:folHlink>
      <a:srgbClr val="E15C3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</TotalTime>
  <Words>287</Words>
  <Application>Microsoft Macintosh PowerPoint</Application>
  <PresentationFormat>Widescreen</PresentationFormat>
  <Paragraphs>53</Paragraphs>
  <Slides>34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Arial</vt:lpstr>
      <vt:lpstr>Neue Haas Grotesk Text Pro</vt:lpstr>
      <vt:lpstr>Times New Roman</vt:lpstr>
      <vt:lpstr>VanillaVTI</vt:lpstr>
      <vt:lpstr>Mexico City Mode comparison </vt:lpstr>
      <vt:lpstr>Single mode trip </vt:lpstr>
      <vt:lpstr>2007 vs 2017 single mode trip distribution</vt:lpstr>
      <vt:lpstr>Single-trip Metro vs multimodal Metro (2007)</vt:lpstr>
      <vt:lpstr>Single-trip Metro vs multimodal Metro (2017)</vt:lpstr>
      <vt:lpstr>Metro multimodal trip comparison</vt:lpstr>
      <vt:lpstr>BRT (0.5% vs. 1.1%)</vt:lpstr>
      <vt:lpstr>Bus (2.2%vs 1.95%)</vt:lpstr>
      <vt:lpstr>Bus only, High Capacity only, and bus +High Capacity</vt:lpstr>
      <vt:lpstr>Weighted trip Analysis</vt:lpstr>
      <vt:lpstr>2007 vs 2017 single-mode weighted trip distribution</vt:lpstr>
      <vt:lpstr>Single-trip Metro vs multimodal Metro (2007)</vt:lpstr>
      <vt:lpstr>Single-trip Metro vs multimodal Metro (2017)</vt:lpstr>
      <vt:lpstr>Metro multimodal trip comparison (weighted)</vt:lpstr>
      <vt:lpstr>BRT</vt:lpstr>
      <vt:lpstr>BUS</vt:lpstr>
      <vt:lpstr>Bus only, High Capacity only, and bus +High Capacity</vt:lpstr>
      <vt:lpstr>Mexico City</vt:lpstr>
      <vt:lpstr>2007 vs 2017 single-trip distribution</vt:lpstr>
      <vt:lpstr>Metro multimodal trip</vt:lpstr>
      <vt:lpstr>BRT Multimodal trip</vt:lpstr>
      <vt:lpstr>Bus trip</vt:lpstr>
      <vt:lpstr>High Capacity vs bus</vt:lpstr>
      <vt:lpstr>Out of Mexico City</vt:lpstr>
      <vt:lpstr>2007 vs 2017 single-trip distribution</vt:lpstr>
      <vt:lpstr>Metro multimodal trip</vt:lpstr>
      <vt:lpstr>BRT</vt:lpstr>
      <vt:lpstr>Bus</vt:lpstr>
      <vt:lpstr>High Capacity</vt:lpstr>
      <vt:lpstr>Sampling Examination</vt:lpstr>
      <vt:lpstr>Overall sampling (household based)</vt:lpstr>
      <vt:lpstr>High-Capacity Only Trip Distribution  2007 left, 2017 right</vt:lpstr>
      <vt:lpstr>Bus Only Trip Distribution  2007 left, 2017 right</vt:lpstr>
      <vt:lpstr>Bus + High-Capacity Trip Distribution  2007 left, 2017 right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Zhanchao Yang</dc:creator>
  <cp:lastModifiedBy>Yang, Zhanchao</cp:lastModifiedBy>
  <cp:revision>25</cp:revision>
  <dcterms:created xsi:type="dcterms:W3CDTF">2025-08-24T16:09:38Z</dcterms:created>
  <dcterms:modified xsi:type="dcterms:W3CDTF">2025-09-22T16:19:09Z</dcterms:modified>
</cp:coreProperties>
</file>